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18CF8"/>
                </a:solidFill>
              </a:defRPr>
            </a:pPr>
            <a:r>
              <a:t>📦 INVENTORY STOCK MANAGEMENT SYSTEM</a:t>
            </a:r>
          </a:p>
          <a:p>
            <a:pPr algn="ctr">
              <a:spcBef>
                <a:spcPts val="1500"/>
              </a:spcBef>
              <a:defRPr sz="2000">
                <a:solidFill>
                  <a:srgbClr val="FFFFFF"/>
                </a:solidFill>
              </a:defRPr>
            </a:pPr>
            <a:r>
              <a:t>A Modern Full-Stack Python, MongoDB &amp; Web SPA Solution</a:t>
            </a:r>
          </a:p>
          <a:p>
            <a:pPr algn="ctr"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College Assignment &amp; Enterprise Grade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30352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Developed by: Samaksh Garg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1. Project Overview &amp; Problem Statement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Addressing retail inefficiencies with a digital, real-time inventory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  <a:defRPr sz="1800" b="1">
                <a:solidFill>
                  <a:srgbClr val="0F172A"/>
                </a:solidFill>
              </a:defRPr>
            </a:pPr>
            <a:r>
              <a:t>• The Challenge: 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Small retail shops and college stores manually track inventory in paper registers or basic spreadsheets, leading to frequent stockouts, tied-up capital from overstocking, and zero audit trails.</a:t>
            </a:r>
          </a:p>
          <a:p>
            <a:pPr>
              <a:spcBef>
                <a:spcPts val="1600"/>
              </a:spcBef>
              <a:defRPr sz="1800" b="1">
                <a:solidFill>
                  <a:srgbClr val="0F172A"/>
                </a:solidFill>
              </a:defRPr>
            </a:pPr>
            <a:r>
              <a:t>• The Solution: 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A robust, full-stack Inventory Management System featuring a high-performance Python/MongoDB backend, interactive CLI interface, and a modern glassmorphism web dashboard.</a:t>
            </a:r>
          </a:p>
          <a:p>
            <a:pPr>
              <a:spcBef>
                <a:spcPts val="1600"/>
              </a:spcBef>
              <a:defRPr sz="1800" b="1">
                <a:solidFill>
                  <a:srgbClr val="0F172A"/>
                </a:solidFill>
              </a:defRPr>
            </a:pPr>
            <a:r>
              <a:t>• Core Objectives: 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Provide real-time stock tracking, atomic stock operations, comprehensive MongoDB-powered reporting, and seamless data portability via CSV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Architecture &amp; Technology Stack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Clean separation of concerns across a 3-tier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800"/>
              </a:spcBef>
              <a:defRPr sz="1700" b="1">
                <a:solidFill>
                  <a:srgbClr val="0F172A"/>
                </a:solidFill>
              </a:defRPr>
            </a:pPr>
            <a:r>
              <a:t>• 3-Tier Architecture: — Strict separation across Presentation (CLI/Web SPA), Business Service Layer, and MongoDB Database Layer with singleton connection pooling.</a:t>
            </a:r>
          </a:p>
          <a:p>
            <a:pPr>
              <a:spcBef>
                <a:spcPts val="1800"/>
              </a:spcBef>
              <a:defRPr sz="1700" b="1">
                <a:solidFill>
                  <a:srgbClr val="0F172A"/>
                </a:solidFill>
              </a:defRPr>
            </a:pPr>
            <a:r>
              <a:t>• Python (3.10+): — Modern type-hinted application core delivering clean, maintainable, PEP 8 compliant code with zero circular dependencies.</a:t>
            </a:r>
          </a:p>
          <a:p>
            <a:pPr>
              <a:spcBef>
                <a:spcPts val="1800"/>
              </a:spcBef>
              <a:defRPr sz="1700" b="1">
                <a:solidFill>
                  <a:srgbClr val="0F172A"/>
                </a:solidFill>
              </a:defRPr>
            </a:pPr>
            <a:r>
              <a:t>• MongoDB 6.x &amp; PyMongo 4.7.3: — Flexible document model with atomic updates, robust indexing, and powerful aggregation pipelines.</a:t>
            </a:r>
          </a:p>
          <a:p>
            <a:pPr>
              <a:spcBef>
                <a:spcPts val="1800"/>
              </a:spcBef>
              <a:defRPr sz="1700" b="1">
                <a:solidFill>
                  <a:srgbClr val="0F172A"/>
                </a:solidFill>
              </a:defRPr>
            </a:pPr>
            <a:r>
              <a:t>• Supporting Ecosystem: — Flask &amp; Flask-CORS for REST API, tabulate for CLI tables, faker for realistic seed data, and pytest for comprehensive unit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Core Features &amp; Capabilities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Comprehensive toolkit for day-to-day store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700" b="1">
                <a:solidFill>
                  <a:srgbClr val="6366F1"/>
                </a:solidFill>
              </a:defRPr>
            </a:pPr>
            <a:r>
              <a:t>✓ Product Management: 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Add, paginated view, text/regex search, category filter, update, and delete products by SKU.</a:t>
            </a:r>
          </a:p>
          <a:p>
            <a:pPr>
              <a:spcBef>
                <a:spcPts val="1400"/>
              </a:spcBef>
              <a:defRPr sz="1700" b="1">
                <a:solidFill>
                  <a:srgbClr val="6366F1"/>
                </a:solidFill>
              </a:defRPr>
            </a:pPr>
            <a:r>
              <a:t>✓ Supplier Management: 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Complete supplier lifecycle with referential integrity checks preventing deletion of active suppliers.</a:t>
            </a:r>
          </a:p>
          <a:p>
            <a:pPr>
              <a:spcBef>
                <a:spcPts val="1400"/>
              </a:spcBef>
              <a:defRPr sz="1700" b="1">
                <a:solidFill>
                  <a:srgbClr val="6366F1"/>
                </a:solidFill>
              </a:defRPr>
            </a:pPr>
            <a:r>
              <a:t>✓ Stock Operations (IN / OUT): 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Atomic stock updates with guard conditions ensuring zero negative stock.</a:t>
            </a:r>
          </a:p>
          <a:p>
            <a:pPr>
              <a:spcBef>
                <a:spcPts val="1400"/>
              </a:spcBef>
              <a:defRPr sz="1700" b="1">
                <a:solidFill>
                  <a:srgbClr val="6366F1"/>
                </a:solidFill>
              </a:defRPr>
            </a:pPr>
            <a:r>
              <a:t>✓ Transaction Audit Trail: 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Every stock movement is permanently recorded with timestamp, direction, quantity, and notes.</a:t>
            </a:r>
          </a:p>
          <a:p>
            <a:pPr>
              <a:spcBef>
                <a:spcPts val="1400"/>
              </a:spcBef>
              <a:defRPr sz="1700" b="1">
                <a:solidFill>
                  <a:srgbClr val="6366F1"/>
                </a:solidFill>
              </a:defRPr>
            </a:pPr>
            <a:r>
              <a:t>✓ CSV Export &amp; Seeding: 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Instant timestamped CSV export and idempotent bulk upsert for 10 suppliers and 40 demo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Advanced MongoDB Concepts Demonstrated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Leveraging enterprise database features for academic credit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  <a:defRPr sz="1700" b="1">
                <a:solidFill>
                  <a:srgbClr val="0F172A"/>
                </a:solidFill>
              </a:defRPr>
            </a:pPr>
            <a:r>
              <a:t>• Atomic $inc Updates: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Stock IN and OUT use atomic `$inc` operators to guarantee thread-safe operations under concurrency.</a:t>
            </a:r>
          </a:p>
          <a:p>
            <a:pPr>
              <a:spcBef>
                <a:spcPts val="1600"/>
              </a:spcBef>
              <a:defRPr sz="1700" b="1">
                <a:solidFill>
                  <a:srgbClr val="0F172A"/>
                </a:solidFill>
              </a:defRPr>
            </a:pPr>
            <a:r>
              <a:t>• $gte Guard Filter: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Stock OUT query includes `quantity: {'$gte': requested}` ensuring inventory never drops below zero.</a:t>
            </a:r>
          </a:p>
          <a:p>
            <a:pPr>
              <a:spcBef>
                <a:spcPts val="1600"/>
              </a:spcBef>
              <a:defRPr sz="1700" b="1">
                <a:solidFill>
                  <a:srgbClr val="0F172A"/>
                </a:solidFill>
              </a:defRPr>
            </a:pPr>
            <a:r>
              <a:t>• Indexes &amp; Constraints: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Unique indexes on `sku` and `email`, text index on product `name`, and compound index on transactions.</a:t>
            </a:r>
          </a:p>
          <a:p>
            <a:pPr>
              <a:spcBef>
                <a:spcPts val="1600"/>
              </a:spcBef>
              <a:defRPr sz="1700" b="1">
                <a:solidFill>
                  <a:srgbClr val="0F172A"/>
                </a:solidFill>
              </a:defRPr>
            </a:pPr>
            <a:r>
              <a:t>• Aggregation Framework: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Advanced pipelines utilizing `$group`, `$lookup` (joins), `$match`, `$sort`, and `$limit` for rich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5. Analytics &amp; Aggregation Reports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Five powerful reporting pipelines for business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</a:defRPr>
            </a:pPr>
            <a:r>
              <a:t>📊 1. Low Stock Report: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</a:defRPr>
            </a:pPr>
            <a:r>
              <a:t>   Identifies items where quantity &lt;= reorder level for proactive replenishment.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</a:defRPr>
            </a:pPr>
            <a:r>
              <a:t>📊 2. Category-wise Stock Value: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</a:defRPr>
            </a:pPr>
            <a:r>
              <a:t>   Groups products by category calculating total quantity and total inventory valuation.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</a:defRPr>
            </a:pPr>
            <a:r>
              <a:t>📊 3. Supplier Summary ($lookup):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</a:defRPr>
            </a:pPr>
            <a:r>
              <a:t>   Joins suppliers with products to show product counts and valuation per vendor.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</a:defRPr>
            </a:pPr>
            <a:r>
              <a:t>📊 4. Monthly Stock Movement: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</a:defRPr>
            </a:pPr>
            <a:r>
              <a:t>   Aggregates transaction logs by month and movement type (IN vs OUT).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</a:defRPr>
            </a:pPr>
            <a:r>
              <a:t>📊 5. Top 5 Best-Selling Products: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</a:defRPr>
            </a:pPr>
            <a:r>
              <a:t>   Calculates highest total Stock OUT quantity using pipeline sorting and limiting.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6. Live UI: Modern Dashboard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Glassmorphism SPA dashboard displaying live KPI metrics and stock 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97135" cy="70839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7. Live UI: Product Management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Paginated product catalog with category filtering and real-time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97135" cy="58305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8. Live UI: Stock Operations &amp; Analytics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Atomic stock IN/OUT logging and advanced aggregation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97135" cy="99737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9. Testing &amp; Quality Assurance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Robust test suite ensuring absolute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  <a:defRPr sz="1700" b="1">
                <a:solidFill>
                  <a:srgbClr val="10B981"/>
                </a:solidFill>
              </a:defRPr>
            </a:pPr>
            <a:r>
              <a:t>✓ Comprehensive Test Suite: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37 unit tests covering product CRUD, stock operations, and aggregation reports.</a:t>
            </a:r>
          </a:p>
          <a:p>
            <a:pPr>
              <a:spcBef>
                <a:spcPts val="1600"/>
              </a:spcBef>
              <a:defRPr sz="1700" b="1">
                <a:solidFill>
                  <a:srgbClr val="10B981"/>
                </a:solidFill>
              </a:defRPr>
            </a:pPr>
            <a:r>
              <a:t>✓ Isolated Test Database: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Tests run against a dedicated `inventory_test_db` with automated fixture teardown ensuring production data is untouched.</a:t>
            </a:r>
          </a:p>
          <a:p>
            <a:pPr>
              <a:spcBef>
                <a:spcPts val="1600"/>
              </a:spcBef>
              <a:defRPr sz="1700" b="1">
                <a:solidFill>
                  <a:srgbClr val="10B981"/>
                </a:solidFill>
              </a:defRPr>
            </a:pPr>
            <a:r>
              <a:t>✓ Robust Error Handling: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Graceful handling of duplicate SKUs, invalid ObjectIds, connection failures, and insufficient stock without raw tracebacks.</a:t>
            </a:r>
          </a:p>
          <a:p>
            <a:pPr>
              <a:spcBef>
                <a:spcPts val="1600"/>
              </a:spcBef>
              <a:defRPr sz="1700" b="1">
                <a:solidFill>
                  <a:srgbClr val="10B981"/>
                </a:solidFill>
              </a:defRPr>
            </a:pPr>
            <a:r>
              <a:t>✓ Input Validation: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   Strict validation layer verifying prices &gt; 0, quantities &gt;= 0, and valid email formats before database interaction.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10. Conclusion &amp; Future Roadmap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Project success and scalable expansion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600" b="1">
                <a:solidFill>
                  <a:srgbClr val="6366F1"/>
                </a:solidFill>
              </a:defRPr>
            </a:pPr>
            <a:r>
              <a:t>🚀 Project Success: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</a:defRPr>
            </a:pPr>
            <a:r>
              <a:t>   Successfully delivered a complete, tested, and polished inventory management system combining CLI and modern web UI.</a:t>
            </a:r>
          </a:p>
          <a:p>
            <a:pPr>
              <a:spcBef>
                <a:spcPts val="1400"/>
              </a:spcBef>
              <a:defRPr sz="1600" b="1">
                <a:solidFill>
                  <a:srgbClr val="6366F1"/>
                </a:solidFill>
              </a:defRPr>
            </a:pPr>
            <a:r>
              <a:t>🚀 Future Enhancement 1: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</a:defRPr>
            </a:pPr>
            <a:r>
              <a:t>   Role-based authentication (Admin vs. Operator permissions).</a:t>
            </a:r>
          </a:p>
          <a:p>
            <a:pPr>
              <a:spcBef>
                <a:spcPts val="1400"/>
              </a:spcBef>
              <a:defRPr sz="1600" b="1">
                <a:solidFill>
                  <a:srgbClr val="6366F1"/>
                </a:solidFill>
              </a:defRPr>
            </a:pPr>
            <a:r>
              <a:t>🚀 Future Enhancement 2: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</a:defRPr>
            </a:pPr>
            <a:r>
              <a:t>   Barcode scanner integration for lightning-fast stock check-in/out.</a:t>
            </a:r>
          </a:p>
          <a:p>
            <a:pPr>
              <a:spcBef>
                <a:spcPts val="1400"/>
              </a:spcBef>
              <a:defRPr sz="1600" b="1">
                <a:solidFill>
                  <a:srgbClr val="6366F1"/>
                </a:solidFill>
              </a:defRPr>
            </a:pPr>
            <a:r>
              <a:t>🚀 Future Enhancement 3: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</a:defRPr>
            </a:pPr>
            <a:r>
              <a:t>   Automated email/SMS alerts when stock drops below reorder levels.</a:t>
            </a:r>
          </a:p>
          <a:p>
            <a:pPr>
              <a:spcBef>
                <a:spcPts val="1400"/>
              </a:spcBef>
              <a:defRPr sz="1600" b="1">
                <a:solidFill>
                  <a:srgbClr val="6366F1"/>
                </a:solidFill>
              </a:defRPr>
            </a:pPr>
            <a:r>
              <a:t>🚀 Future Enhancement 4: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</a:defRPr>
            </a:pPr>
            <a:r>
              <a:t>   Cloud migration from local MongoDB to MongoDB Atlas.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